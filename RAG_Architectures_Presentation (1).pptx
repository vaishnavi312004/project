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24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-320040"/>
            <a:ext cx="1828800" cy="1828800"/>
          </a:xfrm>
          <a:prstGeom prst="roundRect">
            <a:avLst>
              <a:gd name="adj" fmla="val 50000"/>
            </a:avLst>
          </a:prstGeom>
          <a:solidFill>
            <a:srgbClr val="F0FBF6"/>
          </a:solidFill>
          <a:ln/>
        </p:spPr>
      </p:sp>
      <p:sp>
        <p:nvSpPr>
          <p:cNvPr id="3" name="Shape 1"/>
          <p:cNvSpPr/>
          <p:nvPr/>
        </p:nvSpPr>
        <p:spPr>
          <a:xfrm>
            <a:off x="-502920" y="5394960"/>
            <a:ext cx="1645920" cy="1645920"/>
          </a:xfrm>
          <a:prstGeom prst="roundRect">
            <a:avLst>
              <a:gd name="adj" fmla="val 50000"/>
            </a:avLst>
          </a:prstGeom>
          <a:solidFill>
            <a:srgbClr val="F0FB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772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From Basic Retrieval to</a:t>
            </a:r>
            <a:endParaRPr lang="en-US" sz="3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Retrieval Architectures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</a:t>
            </a:r>
            <a:r>
              <a:rPr lang="en-US" sz="15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Architectures, When They Matter &amp; How They Work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546708" y="352044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46708" y="3520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8892" y="3909060"/>
            <a:ext cx="393192" cy="0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66948" y="352044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6948" y="3520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9132" y="3909060"/>
            <a:ext cx="393192" cy="0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87188" y="352044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7188" y="3520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9372" y="3909060"/>
            <a:ext cx="393192" cy="0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7428" y="352044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059669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7428" y="3520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79612" y="3909060"/>
            <a:ext cx="393192" cy="0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27668" y="352044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27668" y="35204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RAG?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257800" cy="4892040"/>
          </a:xfrm>
          <a:prstGeom prst="roundRect">
            <a:avLst>
              <a:gd name="adj" fmla="val 1869"/>
            </a:avLst>
          </a:prstGeom>
          <a:solidFill>
            <a:srgbClr val="FAFAFA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LLM ALONE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30552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305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2382012"/>
            <a:ext cx="2286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2130552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1305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2382012"/>
            <a:ext cx="2286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2130552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1305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98094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306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880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can be stale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5478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975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4472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45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0142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grounding in private / company 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6817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6314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5811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verify sources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24865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983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148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an entire knowledge base into context is expensive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1417320"/>
            <a:ext cx="5257800" cy="4892040"/>
          </a:xfrm>
          <a:prstGeom prst="roundRect">
            <a:avLst>
              <a:gd name="adj" fmla="val 1869"/>
            </a:avLst>
          </a:prstGeom>
          <a:solidFill>
            <a:srgbClr val="F0FB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673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RAG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2130552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13055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16368" y="2427732"/>
            <a:ext cx="1280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62672" y="2130552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059669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213055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32520" y="2427732"/>
            <a:ext cx="1280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78824" y="2130552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059669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78824" y="213055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48672" y="2427732"/>
            <a:ext cx="1280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94976" y="2130552"/>
            <a:ext cx="10515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94976" y="213055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3017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02552" y="318211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702552" y="35204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702552" y="380390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feeding millions of tokens every query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961120" y="3017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5712" y="318211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9125712" y="35204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125712" y="380390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citable answers, not long-context guessing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6537960" y="44805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2552" y="464515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6702552" y="49834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Updating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702552" y="52669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index in seconds — no retraining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8961120" y="44805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25712" y="464515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9125712" y="49834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9125712" y="5266944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relevant evidence reduces hallucination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RAG System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15258" cy="365760"/>
          </a:xfrm>
          <a:prstGeom prst="roundRect">
            <a:avLst>
              <a:gd name="adj" fmla="val 17500"/>
            </a:avLst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·  OFFLINE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38218" y="1371600"/>
            <a:ext cx="3515258" cy="365760"/>
          </a:xfrm>
          <a:prstGeom prst="roundRect">
            <a:avLst>
              <a:gd name="adj" fmla="val 175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338218" y="1371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·  ONLINE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73517" y="1371600"/>
            <a:ext cx="3515258" cy="36576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173517" y="1371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6596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0549" y="255117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78892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8892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60549" y="33741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361188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61188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60549" y="419709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443484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43484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60549" y="502005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525780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525780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IN" sz="1100" dirty="0"/>
              <a:t>Retrieval Index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8218" y="196596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1370" y="196596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5848" y="255117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38218" y="278892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1370" y="278892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IN" sz="1100" dirty="0"/>
              <a:t>Query Processing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5848" y="33741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38218" y="361188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1370" y="361188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95848" y="419709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338218" y="443484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1370" y="443484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3517" y="196596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6669" y="196596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31146" y="255117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173517" y="278892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6669" y="278892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31146" y="33741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173517" y="3611880"/>
            <a:ext cx="351525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6669" y="3611880"/>
            <a:ext cx="3368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5925312"/>
            <a:ext cx="11185855" cy="420624"/>
          </a:xfrm>
          <a:prstGeom prst="roundRect">
            <a:avLst>
              <a:gd name="adj" fmla="val 19565"/>
            </a:avLst>
          </a:prstGeom>
          <a:solidFill>
            <a:srgbClr val="F0FB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925312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does not change what the LLM can reason about — it changes what information the LLM has in front of it.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000" b="1" dirty="0"/>
              <a:t>Important RAG Architectures &amp; Patterns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29844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Core Paradigms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8288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15798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487168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16882" y="129844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426610" y="129844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Query Transformation &amp; Optimization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6882" y="182880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898" y="18288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316882" y="215798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4898" y="215798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RAG-Fusion / Multi-Query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316882" y="2487168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4898" y="2487168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 Query RAG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316882" y="2816352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4898" y="281635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RAG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130845" y="129844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40573" y="129844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Advanced Structuring &amp; Chunking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0845" y="182880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18288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RAG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130845" y="215798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8861" y="215798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Window Retrieval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130845" y="2487168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8861" y="2487168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30845" y="2816352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8861" y="281635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RAG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2920" y="395020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064E3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" y="395020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Graph &amp; Hybrid Retrieval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48056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448056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/ KG-RAG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02920" y="480974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80974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(Dense + BM25)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2920" y="5138928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" y="5138928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Vector-SQL Hybrid RAG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316882" y="395020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426610" y="395020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Autonomous, Evaluative &amp; Iterative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16882" y="448056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4898" y="448056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4316882" y="480974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4898" y="480974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4316882" y="5138928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4898" y="5138928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316882" y="5468112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4898" y="5468112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RAG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4316882" y="5797296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4898" y="5797296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/ Interleaved RAG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4316882" y="612648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44898" y="612648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RAG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8130845" y="3950208"/>
            <a:ext cx="3557930" cy="4572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8240573" y="3950208"/>
            <a:ext cx="333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Multimodal RAG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130845" y="4480560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58861" y="448056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8130845" y="4809744"/>
            <a:ext cx="355793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58861" y="4809744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Dynamic RAG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502920" y="6455664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is only the starting point.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&amp; RETRIEVAL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Retrieval Smarter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536192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/ Standard RAG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21408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Vector Search → Top-K → Generate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649224" y="3264408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Baseline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4248" y="1371600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4248" y="1371600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500552" y="1536192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0552" y="2121408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Clean/Expand → Search → Re-rank → Generate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500552" y="3264408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Noisy retrieval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5576" y="1371600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5576" y="1371600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1880" y="1536192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1880" y="2121408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Router → [Vector | SQL | API] → Fuse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351880" y="3264408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Rigid single-strategy pipelines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6903" y="1371600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6903" y="1371600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203207" y="1536192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3207" y="2121408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Hypothetical Answer → Embedding Search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9203207" y="3264408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Vocabulary mismatch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986784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986784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" y="4151376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RAG-Fusion / Multi-Query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" y="4736592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Multiple Query Variants → Multiple Searches → RRF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9224" y="5879592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Single-query blind spots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4248" y="3986784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4248" y="3986784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500552" y="4151376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 Query RAG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00552" y="4736592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Abstracted / Broader Question → Retrieve Both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500552" y="5879592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Missing background context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5576" y="3986784"/>
            <a:ext cx="263187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5576" y="3986784"/>
            <a:ext cx="2631872" cy="54864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351880" y="4151376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RAG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1880" y="4736592"/>
            <a:ext cx="2339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Question → Rewritten Question → Retrieval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6351880" y="5879592"/>
            <a:ext cx="2339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Solves: Ambiguous / conversational queries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INDEXING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Chunking &amp; Indexing Become the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90724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901952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98282" y="2423160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660904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660904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98282" y="3182112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3419856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419856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98282" y="3941064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4178808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4178808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67964" y="1371600"/>
            <a:ext cx="2590724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18" name="Text 16"/>
          <p:cNvSpPr/>
          <p:nvPr/>
        </p:nvSpPr>
        <p:spPr>
          <a:xfrm>
            <a:off x="3367964" y="1371600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67964" y="1901952"/>
            <a:ext cx="2590724" cy="457200"/>
          </a:xfrm>
          <a:prstGeom prst="roundRect">
            <a:avLst>
              <a:gd name="adj" fmla="val 140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1116" y="1901952"/>
            <a:ext cx="244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Chunk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326" y="2377440"/>
            <a:ext cx="0" cy="10972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67964" y="2505456"/>
            <a:ext cx="814807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1116" y="2505456"/>
            <a:ext cx="668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255922" y="2505456"/>
            <a:ext cx="814807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9074" y="2505456"/>
            <a:ext cx="668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143881" y="2505456"/>
            <a:ext cx="814807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7033" y="2505456"/>
            <a:ext cx="668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663326" y="2907792"/>
            <a:ext cx="0" cy="16459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67964" y="3090672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1116" y="3090672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Child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326" y="3547872"/>
            <a:ext cx="0" cy="14630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67964" y="3712464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05966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1116" y="3712464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Parent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67964" y="4315968"/>
            <a:ext cx="25907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 Sentence Window Retrieval — same idea at sentence-level granularity.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3008" y="1371600"/>
            <a:ext cx="2590724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36" name="Text 34"/>
          <p:cNvSpPr/>
          <p:nvPr/>
        </p:nvSpPr>
        <p:spPr>
          <a:xfrm>
            <a:off x="6233008" y="1371600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3008" y="1901952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6160" y="1901952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28369" y="2359152"/>
            <a:ext cx="0" cy="105156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33008" y="2482596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6160" y="2482596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28369" y="2939796"/>
            <a:ext cx="0" cy="105156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33008" y="3063240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6160" y="3063240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28369" y="3520440"/>
            <a:ext cx="0" cy="105156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233008" y="3643884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6160" y="3643884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28369" y="4101084"/>
            <a:ext cx="0" cy="105156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33008" y="4224528"/>
            <a:ext cx="259072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6160" y="4224528"/>
            <a:ext cx="24444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98051" y="1371600"/>
            <a:ext cx="2590724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52" name="Text 50"/>
          <p:cNvSpPr/>
          <p:nvPr/>
        </p:nvSpPr>
        <p:spPr>
          <a:xfrm>
            <a:off x="9098051" y="1371600"/>
            <a:ext cx="259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098051" y="1901952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71203" y="1901952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Index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393413" y="2423160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098051" y="2660904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71203" y="2660904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Document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Topic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393413" y="3182112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098051" y="3419856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71203" y="3419856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Index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393413" y="3941064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098051" y="4178808"/>
            <a:ext cx="2590724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71203" y="4178808"/>
            <a:ext cx="2444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5925312"/>
            <a:ext cx="11185855" cy="420624"/>
          </a:xfrm>
          <a:prstGeom prst="roundRect">
            <a:avLst>
              <a:gd name="adj" fmla="val 19565"/>
            </a:avLst>
          </a:prstGeom>
          <a:solidFill>
            <a:srgbClr val="F0FB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5925312"/>
            <a:ext cx="106372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depends not only on embeddings — </a:t>
            </a:r>
            <a:r>
              <a:rPr lang="en-US" sz="115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information is structured matters..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BASIC VECTOR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/>
              <a:t>When One Retrieval Strategy Isn't Enough</a:t>
            </a:r>
            <a:endParaRPr lang="en-US" sz="3000" b="1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33546" cy="461772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533546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3533546" cy="2286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3533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" y="2057400"/>
            <a:ext cx="3131210" cy="384048"/>
          </a:xfrm>
          <a:prstGeom prst="roundRect">
            <a:avLst>
              <a:gd name="adj" fmla="val 119048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057400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9693" y="2468880"/>
            <a:ext cx="0" cy="26517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42845" y="2423160"/>
            <a:ext cx="1565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works_on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04088" y="2761488"/>
            <a:ext cx="3131210" cy="384048"/>
          </a:xfrm>
          <a:prstGeom prst="roundRect">
            <a:avLst>
              <a:gd name="adj" fmla="val 119048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761488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9693" y="3172968"/>
            <a:ext cx="0" cy="26517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342845" y="3127248"/>
            <a:ext cx="1565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04088" y="3465576"/>
            <a:ext cx="3131210" cy="384048"/>
          </a:xfrm>
          <a:prstGeom prst="roundRect">
            <a:avLst>
              <a:gd name="adj" fmla="val 119048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465576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69693" y="3877056"/>
            <a:ext cx="0" cy="26517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42845" y="3831336"/>
            <a:ext cx="15656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owned_by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04088" y="4169664"/>
            <a:ext cx="3131210" cy="384048"/>
          </a:xfrm>
          <a:prstGeom prst="roundRect">
            <a:avLst>
              <a:gd name="adj" fmla="val 119048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4169664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" y="5120640"/>
            <a:ext cx="31312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the answer depends on relationships and multi-hop reasoning.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29074" y="1371600"/>
            <a:ext cx="3533546" cy="461772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9074" y="1371600"/>
            <a:ext cx="3533546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</p:spPr>
      </p:sp>
      <p:sp>
        <p:nvSpPr>
          <p:cNvPr id="25" name="Shape 23"/>
          <p:cNvSpPr/>
          <p:nvPr/>
        </p:nvSpPr>
        <p:spPr>
          <a:xfrm>
            <a:off x="4329074" y="1600200"/>
            <a:ext cx="3533546" cy="2286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/>
        </p:spPr>
      </p:sp>
      <p:sp>
        <p:nvSpPr>
          <p:cNvPr id="26" name="Text 24"/>
          <p:cNvSpPr/>
          <p:nvPr/>
        </p:nvSpPr>
        <p:spPr>
          <a:xfrm>
            <a:off x="4329074" y="1371600"/>
            <a:ext cx="3533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30242" y="2057400"/>
            <a:ext cx="3131210" cy="38404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3394" y="2057400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13045" y="24597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78650" y="24597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30242" y="2715768"/>
            <a:ext cx="147416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3394" y="2715768"/>
            <a:ext cx="1327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187288" y="2715768"/>
            <a:ext cx="147416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0440" y="2715768"/>
            <a:ext cx="1327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Match)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313045" y="3236976"/>
            <a:ext cx="0" cy="2377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78650" y="3236976"/>
            <a:ext cx="0" cy="2377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30242" y="3493008"/>
            <a:ext cx="313121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03394" y="3493008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+ Re-ranked Results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095848" y="396849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30242" y="4206240"/>
            <a:ext cx="3131210" cy="38404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3394" y="4206240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30242" y="5120640"/>
            <a:ext cx="31312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both meaning and exact terms matter.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55229" y="1371600"/>
            <a:ext cx="3533546" cy="4617720"/>
          </a:xfrm>
          <a:prstGeom prst="roundRect">
            <a:avLst>
              <a:gd name="adj" fmla="val 25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55229" y="1371600"/>
            <a:ext cx="3533546" cy="45720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/>
        </p:spPr>
      </p:sp>
      <p:sp>
        <p:nvSpPr>
          <p:cNvPr id="45" name="Shape 43"/>
          <p:cNvSpPr/>
          <p:nvPr/>
        </p:nvSpPr>
        <p:spPr>
          <a:xfrm>
            <a:off x="8155229" y="1600200"/>
            <a:ext cx="3533546" cy="2286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/>
        </p:spPr>
      </p:sp>
      <p:sp>
        <p:nvSpPr>
          <p:cNvPr id="46" name="Text 44"/>
          <p:cNvSpPr/>
          <p:nvPr/>
        </p:nvSpPr>
        <p:spPr>
          <a:xfrm>
            <a:off x="8155229" y="1371600"/>
            <a:ext cx="3533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Vector-SQL Hybrid RAG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356397" y="2057400"/>
            <a:ext cx="3131210" cy="38404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9549" y="2057400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39199" y="24597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704805" y="245973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356397" y="2715768"/>
            <a:ext cx="147416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29549" y="2715768"/>
            <a:ext cx="1327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(Docs)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10013442" y="2715768"/>
            <a:ext cx="1474165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86594" y="2715768"/>
            <a:ext cx="13278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(Tables)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9139199" y="3236976"/>
            <a:ext cx="0" cy="2377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704805" y="3236976"/>
            <a:ext cx="0" cy="2377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356397" y="3493008"/>
            <a:ext cx="313121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29549" y="3493008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Context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9922002" y="396849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356397" y="4206240"/>
            <a:ext cx="3131210" cy="38404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29549" y="4206240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56397" y="5120640"/>
            <a:ext cx="31312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one answer requires both narrative evidence and numerical data.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Retrieval Pipeline to Intelligent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AFAFA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36192"/>
            <a:ext cx="1417320" cy="512064"/>
          </a:xfrm>
          <a:prstGeom prst="roundRect">
            <a:avLst>
              <a:gd name="adj" fmla="val 10714"/>
            </a:avLst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361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Generate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1051560" y="2231136"/>
            <a:ext cx="0" cy="14630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395728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0FBF6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560320"/>
            <a:ext cx="1417320" cy="512064"/>
          </a:xfrm>
          <a:prstGeom prst="roundRect">
            <a:avLst>
              <a:gd name="adj" fmla="val 10714"/>
            </a:avLst>
          </a:prstGeom>
          <a:solidFill>
            <a:srgbClr val="064E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5603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39572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Choose RAG Strategy → Generate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051560" y="3255264"/>
            <a:ext cx="0" cy="14630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3419856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0FBF6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584448"/>
            <a:ext cx="1417320" cy="512064"/>
          </a:xfrm>
          <a:prstGeom prst="roundRect">
            <a:avLst>
              <a:gd name="adj" fmla="val 10714"/>
            </a:avLst>
          </a:prstGeom>
          <a:solidFill>
            <a:srgbClr val="064E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58444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41985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Evaluate → Correct / Web Fallback → Generate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051560" y="4279392"/>
            <a:ext cx="0" cy="14630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4443984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0FBF6"/>
          </a:solidFill>
          <a:ln w="12700">
            <a:solidFill>
              <a:srgbClr val="DCE7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4608576"/>
            <a:ext cx="1417320" cy="512064"/>
          </a:xfrm>
          <a:prstGeom prst="roundRect">
            <a:avLst>
              <a:gd name="adj" fmla="val 10714"/>
            </a:avLst>
          </a:prstGeom>
          <a:solidFill>
            <a:srgbClr val="064E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460857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444398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Tool → Observe → Retrieve → Evaluate → Repeat → Answer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02920" y="5513832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568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self-critique, retrieves on the fly mid-generation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2560320" y="5513832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568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/ Interleaved RAG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generation and retrieval to build long, multi-part answers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617720" y="5513832"/>
            <a:ext cx="1920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5568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RAG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drafts in parallel, large model verifies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6903720" y="1371600"/>
            <a:ext cx="4785055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blurRad="635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371600"/>
            <a:ext cx="4785055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6903720" y="1572768"/>
            <a:ext cx="4785055" cy="210312"/>
          </a:xfrm>
          <a:prstGeom prst="roundRect">
            <a:avLst>
              <a:gd name="adj" fmla="val 34783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137160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086600" y="1993392"/>
            <a:ext cx="4419295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9752" y="1993392"/>
            <a:ext cx="4272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296248" y="2395728"/>
            <a:ext cx="0" cy="16459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86600" y="2578608"/>
            <a:ext cx="4419295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9752" y="2578608"/>
            <a:ext cx="42729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777429" y="2980944"/>
            <a:ext cx="0" cy="219456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86600" y="3218688"/>
            <a:ext cx="1381658" cy="384048"/>
          </a:xfrm>
          <a:prstGeom prst="roundRect">
            <a:avLst>
              <a:gd name="adj" fmla="val 14286"/>
            </a:avLst>
          </a:prstGeom>
          <a:solidFill>
            <a:srgbClr val="F0FBF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218688"/>
            <a:ext cx="1381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777429" y="3621024"/>
            <a:ext cx="0" cy="164592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86600" y="3803904"/>
            <a:ext cx="1381658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14032" y="3803904"/>
            <a:ext cx="1326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96248" y="2980944"/>
            <a:ext cx="0" cy="219456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605418" y="3218688"/>
            <a:ext cx="1381658" cy="384048"/>
          </a:xfrm>
          <a:prstGeom prst="roundRect">
            <a:avLst>
              <a:gd name="adj" fmla="val 14286"/>
            </a:avLst>
          </a:prstGeom>
          <a:solidFill>
            <a:srgbClr val="F0FBF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05418" y="3218688"/>
            <a:ext cx="1381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9296248" y="3621024"/>
            <a:ext cx="0" cy="164592"/>
          </a:xfrm>
          <a:prstGeom prst="line">
            <a:avLst/>
          </a:prstGeom>
          <a:noFill/>
          <a:ln w="1587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605418" y="3803904"/>
            <a:ext cx="1381658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32850" y="3803904"/>
            <a:ext cx="1326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0815066" y="2980944"/>
            <a:ext cx="0" cy="219456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124237" y="3218688"/>
            <a:ext cx="1381658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24237" y="3218688"/>
            <a:ext cx="1381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10815066" y="3621024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0124237" y="3803904"/>
            <a:ext cx="1381658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51669" y="3803904"/>
            <a:ext cx="1326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→ Generate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EMERGING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Core RAG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948940" cy="384048"/>
          </a:xfrm>
          <a:prstGeom prst="roundRect">
            <a:avLst>
              <a:gd name="adj" fmla="val 16667"/>
            </a:avLst>
          </a:prstGeom>
          <a:solidFill>
            <a:srgbClr val="9CA3A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2948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VECTOR RAG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99916" y="1316736"/>
            <a:ext cx="3058668" cy="493776"/>
          </a:xfrm>
          <a:prstGeom prst="roundRect">
            <a:avLst>
              <a:gd name="adj" fmla="val 18519"/>
            </a:avLst>
          </a:prstGeom>
          <a:ln w="22225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54780" y="1371600"/>
            <a:ext cx="2948940" cy="384048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/>
        </p:spPr>
      </p:sp>
      <p:sp>
        <p:nvSpPr>
          <p:cNvPr id="8" name="Text 6"/>
          <p:cNvSpPr/>
          <p:nvPr/>
        </p:nvSpPr>
        <p:spPr>
          <a:xfrm>
            <a:off x="3954780" y="1371600"/>
            <a:ext cx="2948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 RAG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02152" y="13624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01952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1977390" y="2281428"/>
            <a:ext cx="0" cy="7315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2368296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68296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1977390" y="2747772"/>
            <a:ext cx="0" cy="7315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2834640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834640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977390" y="3214116"/>
            <a:ext cx="0" cy="7315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3300984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300984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977390" y="3680460"/>
            <a:ext cx="0" cy="7315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2920" y="3767328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767328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1977390" y="4146804"/>
            <a:ext cx="0" cy="7315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2920" y="4233672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C7CF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233672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3954780" y="1901952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7932" y="1901952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429250" y="2281428"/>
            <a:ext cx="0" cy="73152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54780" y="2368296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7932" y="2368296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/ Index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429250" y="2747772"/>
            <a:ext cx="0" cy="73152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54780" y="2834640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7932" y="2834640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/ Navigation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429250" y="3214116"/>
            <a:ext cx="0" cy="73152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954780" y="3300984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7932" y="3300984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Sections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29250" y="3680460"/>
            <a:ext cx="0" cy="73152"/>
          </a:xfrm>
          <a:prstGeom prst="line">
            <a:avLst/>
          </a:prstGeom>
          <a:noFill/>
          <a:ln w="1587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954780" y="3767328"/>
            <a:ext cx="2948940" cy="365760"/>
          </a:xfrm>
          <a:prstGeom prst="roundRect">
            <a:avLst>
              <a:gd name="adj" fmla="val 17500"/>
            </a:avLst>
          </a:prstGeom>
          <a:solidFill>
            <a:srgbClr val="F0FBF6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7932" y="3767328"/>
            <a:ext cx="2802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02920" y="4809744"/>
            <a:ext cx="6400800" cy="777240"/>
          </a:xfrm>
          <a:prstGeom prst="roundRect">
            <a:avLst>
              <a:gd name="adj" fmla="val 10588"/>
            </a:avLst>
          </a:prstGeom>
          <a:solidFill>
            <a:srgbClr val="F0FB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4882896"/>
            <a:ext cx="5998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“RAG is about retrieving useful external information — vector similarity is one retrieval strategy, not the definition of RAG.”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7223760" y="1371600"/>
            <a:ext cx="2131924" cy="2116836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223760" y="1371600"/>
            <a:ext cx="2131924" cy="45720"/>
          </a:xfrm>
          <a:prstGeom prst="roundRect">
            <a:avLst>
              <a:gd name="adj" fmla="val 160000"/>
            </a:avLst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7370064" y="1517904"/>
            <a:ext cx="1839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BM25 RAG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70064" y="2084832"/>
            <a:ext cx="1839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keyword-based retrieval, not dense embeddings.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7370064" y="3031236"/>
            <a:ext cx="18393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1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Exact terms, error codes, product IDs, names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9556852" y="1371600"/>
            <a:ext cx="2131924" cy="2116836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556852" y="1371600"/>
            <a:ext cx="2131924" cy="45720"/>
          </a:xfrm>
          <a:prstGeom prst="roundRect">
            <a:avLst>
              <a:gd name="adj" fmla="val 160000"/>
            </a:avLst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9703156" y="1517904"/>
            <a:ext cx="1839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Late-Interaction Retrieval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03156" y="2084832"/>
            <a:ext cx="1839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query–document interaction instead of one dense vector per chunk.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703156" y="3031236"/>
            <a:ext cx="18393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1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Fine-grained matching and retrieval precision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7223760" y="3689604"/>
            <a:ext cx="2131924" cy="2116836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23760" y="3689604"/>
            <a:ext cx="2131924" cy="45720"/>
          </a:xfrm>
          <a:prstGeom prst="roundRect">
            <a:avLst>
              <a:gd name="adj" fmla="val 160000"/>
            </a:avLst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7370064" y="3835908"/>
            <a:ext cx="1839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RAG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70064" y="4402836"/>
            <a:ext cx="1839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accounts for time, document versions, effective dates.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7370064" y="5349240"/>
            <a:ext cx="18393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10" i="1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</a:t>
            </a:r>
            <a:r>
              <a:rPr lang="en-US" sz="81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Policies, regulations, prices, news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9556852" y="3689604"/>
            <a:ext cx="2131924" cy="2116836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DCE7E2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556852" y="3689604"/>
            <a:ext cx="2131924" cy="45720"/>
          </a:xfrm>
          <a:prstGeom prst="roundRect">
            <a:avLst>
              <a:gd name="adj" fmla="val 160000"/>
            </a:avLst>
          </a:prstGeom>
          <a:solidFill>
            <a:srgbClr val="059669"/>
          </a:solidFill>
          <a:ln/>
        </p:spPr>
      </p:sp>
      <p:sp>
        <p:nvSpPr>
          <p:cNvPr id="61" name="Text 59"/>
          <p:cNvSpPr/>
          <p:nvPr/>
        </p:nvSpPr>
        <p:spPr>
          <a:xfrm>
            <a:off x="9703156" y="3835908"/>
            <a:ext cx="18393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/ Memory-Augmented RAG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703156" y="4402836"/>
            <a:ext cx="18393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external retrieval with user-specific or conversational memory.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9703156" y="5349240"/>
            <a:ext cx="18393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1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 Personalized assistants, long-running chats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502920" y="5943600"/>
            <a:ext cx="11185855" cy="384048"/>
          </a:xfrm>
          <a:prstGeom prst="roundRect">
            <a:avLst>
              <a:gd name="adj" fmla="val 19048"/>
            </a:avLst>
          </a:prstGeom>
          <a:solidFill>
            <a:srgbClr val="F0FBF6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5943600"/>
            <a:ext cx="10637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b="1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 evolve by changing how information is indexed, retrieved, evaluated, and combined with generation.</a:t>
            </a:r>
            <a:endParaRPr lang="en-US" sz="1030" dirty="0"/>
          </a:p>
        </p:txBody>
      </p:sp>
      <p:sp>
        <p:nvSpPr>
          <p:cNvPr id="66" name="Text 64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4509592" y="4235958"/>
            <a:ext cx="183931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81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without dense vector similarity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Architecture for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32908" cy="365760"/>
          </a:xfrm>
          <a:prstGeom prst="roundRect">
            <a:avLst>
              <a:gd name="adj" fmla="val 15000"/>
            </a:avLst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3368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71323" y="1353312"/>
            <a:ext cx="1927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19072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/ vocabulary mismatch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3762665" y="1719072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9696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conversational question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3762665" y="2139696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0320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multiple perspectives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3762665" y="2560320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RAG-Fusion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80944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Chunk-size / context problem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3762665" y="2980944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02920" y="3401568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01568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Big-picture long documents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3762665" y="3401568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22192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/ multi-hop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3762665" y="3822192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02920" y="4242816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42816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codes / SKUs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3762665" y="4242816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255868" y="1353312"/>
            <a:ext cx="5432908" cy="365760"/>
          </a:xfrm>
          <a:prstGeom prst="roundRect">
            <a:avLst>
              <a:gd name="adj" fmla="val 15000"/>
            </a:avLst>
          </a:prstGeom>
          <a:solidFill>
            <a:srgbClr val="064E3B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1353312"/>
            <a:ext cx="3368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24270" y="1353312"/>
            <a:ext cx="19273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1719072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3028" y="1719072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+ documents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9515612" y="1719072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Vector-SQL Hybrid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255868" y="2139696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3028" y="2139696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retrieval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9515612" y="2139696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255868" y="2560320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3028" y="2560320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research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9515612" y="2560320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255868" y="2980944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3028" y="2980944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query complexity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9515612" y="2980944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RAG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6255868" y="3401568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3028" y="3401568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charts / video</a:t>
            </a:r>
            <a:endParaRPr lang="en-US" sz="970" dirty="0"/>
          </a:p>
        </p:txBody>
      </p:sp>
      <p:sp>
        <p:nvSpPr>
          <p:cNvPr id="45" name="Text 43"/>
          <p:cNvSpPr/>
          <p:nvPr/>
        </p:nvSpPr>
        <p:spPr>
          <a:xfrm>
            <a:off x="9515612" y="3401568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6255868" y="3822192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93028" y="3822192"/>
            <a:ext cx="32597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changing information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9515612" y="3822192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RAG</a:t>
            </a:r>
            <a:endParaRPr lang="en-US" sz="970" dirty="0"/>
          </a:p>
        </p:txBody>
      </p:sp>
      <p:sp>
        <p:nvSpPr>
          <p:cNvPr id="49" name="Text 47"/>
          <p:cNvSpPr/>
          <p:nvPr/>
        </p:nvSpPr>
        <p:spPr>
          <a:xfrm>
            <a:off x="914400" y="54406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not a single pipeline. The architecture should match the information problem.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6780" y="5752051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Measure retrieval quality. Add complexity only when the problem demands it.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ARCHITECTURES</a:t>
            </a:r>
            <a:endParaRPr lang="en-US" sz="900" dirty="0"/>
          </a:p>
        </p:txBody>
      </p:sp>
      <p:sp>
        <p:nvSpPr>
          <p:cNvPr id="54" name="Shape 23"/>
          <p:cNvSpPr/>
          <p:nvPr/>
        </p:nvSpPr>
        <p:spPr>
          <a:xfrm>
            <a:off x="6255868" y="4242816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55" name="Shape 20"/>
          <p:cNvSpPr/>
          <p:nvPr/>
        </p:nvSpPr>
        <p:spPr>
          <a:xfrm>
            <a:off x="502920" y="4663440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56" name="Shape 20"/>
          <p:cNvSpPr/>
          <p:nvPr/>
        </p:nvSpPr>
        <p:spPr>
          <a:xfrm>
            <a:off x="6250519" y="4663440"/>
            <a:ext cx="5432908" cy="420624"/>
          </a:xfrm>
          <a:prstGeom prst="roundRect">
            <a:avLst>
              <a:gd name="adj" fmla="val 17391"/>
            </a:avLst>
          </a:prstGeom>
          <a:solidFill>
            <a:srgbClr val="FAFAFA"/>
          </a:solidFill>
          <a:ln w="6350">
            <a:solidFill>
              <a:srgbClr val="DCE7E2"/>
            </a:solidFill>
            <a:prstDash val="solid"/>
          </a:ln>
        </p:spPr>
      </p:sp>
      <p:sp>
        <p:nvSpPr>
          <p:cNvPr id="57" name="Text 24"/>
          <p:cNvSpPr/>
          <p:nvPr/>
        </p:nvSpPr>
        <p:spPr>
          <a:xfrm>
            <a:off x="640080" y="4663440"/>
            <a:ext cx="173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No dense vector retrieval needed</a:t>
            </a:r>
            <a:endParaRPr lang="en-US" sz="970" dirty="0"/>
          </a:p>
        </p:txBody>
      </p:sp>
      <p:sp>
        <p:nvSpPr>
          <p:cNvPr id="58" name="Text 24"/>
          <p:cNvSpPr/>
          <p:nvPr/>
        </p:nvSpPr>
        <p:spPr>
          <a:xfrm>
            <a:off x="6393028" y="4631199"/>
            <a:ext cx="19707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Time/version-sensitive information</a:t>
            </a:r>
            <a:endParaRPr lang="en-US" sz="970" dirty="0"/>
          </a:p>
        </p:txBody>
      </p:sp>
      <p:sp>
        <p:nvSpPr>
          <p:cNvPr id="59" name="Text 24"/>
          <p:cNvSpPr/>
          <p:nvPr/>
        </p:nvSpPr>
        <p:spPr>
          <a:xfrm>
            <a:off x="6393028" y="4233435"/>
            <a:ext cx="19707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Exact keyword / identifier matching</a:t>
            </a:r>
            <a:endParaRPr lang="en-US" sz="970" dirty="0"/>
          </a:p>
        </p:txBody>
      </p:sp>
      <p:sp>
        <p:nvSpPr>
          <p:cNvPr id="60" name="Text 25"/>
          <p:cNvSpPr/>
          <p:nvPr/>
        </p:nvSpPr>
        <p:spPr>
          <a:xfrm>
            <a:off x="3767688" y="4654059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70" b="1" dirty="0" err="1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</a:t>
            </a:r>
            <a:r>
              <a:rPr lang="en-IN" sz="1000" dirty="0"/>
              <a:t> </a:t>
            </a:r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70" b="1" dirty="0">
              <a:solidFill>
                <a:srgbClr val="064E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9518653" y="4657344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r>
              <a:rPr lang="en-IN" sz="1000" dirty="0"/>
              <a:t> </a:t>
            </a:r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70" b="1" dirty="0">
              <a:solidFill>
                <a:srgbClr val="064E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9515611" y="4254896"/>
            <a:ext cx="208172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r>
              <a:rPr lang="en-IN" sz="1000" dirty="0"/>
              <a:t> / </a:t>
            </a:r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r>
              <a:rPr lang="en-IN" sz="1000" dirty="0"/>
              <a:t> </a:t>
            </a:r>
            <a:r>
              <a:rPr lang="en-IN" sz="97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70" b="1" dirty="0">
              <a:solidFill>
                <a:srgbClr val="064E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1014</Words>
  <Application>Microsoft Office PowerPoint</Application>
  <PresentationFormat>Widescreen</PresentationFormat>
  <Paragraphs>298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Vaishnavi Khairnar</cp:lastModifiedBy>
  <cp:revision>5</cp:revision>
  <dcterms:created xsi:type="dcterms:W3CDTF">2026-08-18T12:58:13Z</dcterms:created>
  <dcterms:modified xsi:type="dcterms:W3CDTF">2026-08-18T13:59:51Z</dcterms:modified>
</cp:coreProperties>
</file>